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794e20ca4c4c5b" /><Relationship Type="http://schemas.openxmlformats.org/officeDocument/2006/relationships/extended-properties" Target="/docProps/app.xml" Id="R65e31793b9814f48" /><Relationship Type="http://schemas.openxmlformats.org/officeDocument/2006/relationships/officeDocument" Target="/ppt/presentation.xml" Id="Rf802153056f442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6f92144d6d4724"/>
  </p:sldMasterIdLst>
  <p:notesMasterIdLst>
    <p:notesMasterId xmlns:r="http://schemas.openxmlformats.org/officeDocument/2006/relationships" r:id="R8663336e121947f0"/>
  </p:notesMasterIdLst>
  <p:sldIdLst>
    <p:sldId xmlns:r="http://schemas.openxmlformats.org/officeDocument/2006/relationships" id="256" r:id="Ra5548464fb904908"/>
    <p:sldId xmlns:r="http://schemas.openxmlformats.org/officeDocument/2006/relationships" id="257" r:id="Rb58765e0c7924c92"/>
    <p:sldId xmlns:r="http://schemas.openxmlformats.org/officeDocument/2006/relationships" id="258" r:id="R51e3d3cb1e754115"/>
    <p:sldId xmlns:r="http://schemas.openxmlformats.org/officeDocument/2006/relationships" id="259" r:id="Rfa9139d987684baf"/>
    <p:sldId xmlns:r="http://schemas.openxmlformats.org/officeDocument/2006/relationships" id="260" r:id="R3407e6e8d7c34836"/>
    <p:sldId xmlns:r="http://schemas.openxmlformats.org/officeDocument/2006/relationships" id="261" r:id="Rd6fe522dfb1e4e40"/>
    <p:sldId xmlns:r="http://schemas.openxmlformats.org/officeDocument/2006/relationships" id="262" r:id="Rb45896953eb04d26"/>
    <p:sldId xmlns:r="http://schemas.openxmlformats.org/officeDocument/2006/relationships" id="263" r:id="R751c42f1b33040c4"/>
    <p:sldId xmlns:r="http://schemas.openxmlformats.org/officeDocument/2006/relationships" id="264" r:id="Rffe8c3a4f9fb4c03"/>
    <p:sldId xmlns:r="http://schemas.openxmlformats.org/officeDocument/2006/relationships" id="265" r:id="Rb8b0aab05d8d4e40"/>
    <p:sldId xmlns:r="http://schemas.openxmlformats.org/officeDocument/2006/relationships" id="266" r:id="R9818184c511947ab"/>
    <p:sldId xmlns:r="http://schemas.openxmlformats.org/officeDocument/2006/relationships" id="267" r:id="Rd05836b2ef694c6e"/>
    <p:sldId xmlns:r="http://schemas.openxmlformats.org/officeDocument/2006/relationships" id="268" r:id="R6d355b1a82494fae"/>
    <p:sldId xmlns:r="http://schemas.openxmlformats.org/officeDocument/2006/relationships" id="269" r:id="R9d87d9609f294dc4"/>
    <p:sldId xmlns:r="http://schemas.openxmlformats.org/officeDocument/2006/relationships" id="270" r:id="R4d3ee0a8d3f4490b"/>
    <p:sldId xmlns:r="http://schemas.openxmlformats.org/officeDocument/2006/relationships" id="271" r:id="R2e0155af36b948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1d397a367942db" /><Relationship Type="http://schemas.openxmlformats.org/officeDocument/2006/relationships/slideMaster" Target="/ppt/slideMasters/slideMaster1.xml" Id="R216f92144d6d4724" /><Relationship Type="http://schemas.openxmlformats.org/officeDocument/2006/relationships/notesMaster" Target="/ppt/notesMasters/notesMaster1.xml" Id="R8663336e121947f0" /><Relationship Type="http://schemas.openxmlformats.org/officeDocument/2006/relationships/presProps" Target="/ppt/presProps.xml" Id="Rea3b38d272be4ccb" /><Relationship Type="http://schemas.openxmlformats.org/officeDocument/2006/relationships/viewProps" Target="/ppt/viewProps.xml" Id="Rf87a0c6ea39c4d68" /><Relationship Type="http://schemas.openxmlformats.org/officeDocument/2006/relationships/tableStyles" Target="/ppt/tableStyles.xml" Id="Rf1c9ded924c344bb" /><Relationship Type="http://schemas.openxmlformats.org/officeDocument/2006/relationships/slide" Target="/ppt/slides/slide1.xml" Id="Ra5548464fb904908" /><Relationship Type="http://schemas.openxmlformats.org/officeDocument/2006/relationships/slide" Target="/ppt/slides/slide2.xml" Id="Rb58765e0c7924c92" /><Relationship Type="http://schemas.openxmlformats.org/officeDocument/2006/relationships/slide" Target="/ppt/slides/slide3.xml" Id="R51e3d3cb1e754115" /><Relationship Type="http://schemas.openxmlformats.org/officeDocument/2006/relationships/slide" Target="/ppt/slides/slide4.xml" Id="Rfa9139d987684baf" /><Relationship Type="http://schemas.openxmlformats.org/officeDocument/2006/relationships/slide" Target="/ppt/slides/slide5.xml" Id="R3407e6e8d7c34836" /><Relationship Type="http://schemas.openxmlformats.org/officeDocument/2006/relationships/slide" Target="/ppt/slides/slide6.xml" Id="Rd6fe522dfb1e4e40" /><Relationship Type="http://schemas.openxmlformats.org/officeDocument/2006/relationships/slide" Target="/ppt/slides/slide7.xml" Id="Rb45896953eb04d26" /><Relationship Type="http://schemas.openxmlformats.org/officeDocument/2006/relationships/slide" Target="/ppt/slides/slide8.xml" Id="R751c42f1b33040c4" /><Relationship Type="http://schemas.openxmlformats.org/officeDocument/2006/relationships/slide" Target="/ppt/slides/slide9.xml" Id="Rffe8c3a4f9fb4c03" /><Relationship Type="http://schemas.openxmlformats.org/officeDocument/2006/relationships/slide" Target="/ppt/slides/slide10.xml" Id="Rb8b0aab05d8d4e40" /><Relationship Type="http://schemas.openxmlformats.org/officeDocument/2006/relationships/slide" Target="/ppt/slides/slide11.xml" Id="R9818184c511947ab" /><Relationship Type="http://schemas.openxmlformats.org/officeDocument/2006/relationships/slide" Target="/ppt/slides/slide12.xml" Id="Rd05836b2ef694c6e" /><Relationship Type="http://schemas.openxmlformats.org/officeDocument/2006/relationships/slide" Target="/ppt/slides/slide13.xml" Id="R6d355b1a82494fae" /><Relationship Type="http://schemas.openxmlformats.org/officeDocument/2006/relationships/slide" Target="/ppt/slides/slide14.xml" Id="R9d87d9609f294dc4" /><Relationship Type="http://schemas.openxmlformats.org/officeDocument/2006/relationships/slide" Target="/ppt/slides/slide15.xml" Id="R4d3ee0a8d3f4490b" /><Relationship Type="http://schemas.openxmlformats.org/officeDocument/2006/relationships/slide" Target="/ppt/slides/slide16.xml" Id="R2e0155af36b948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01f9cb9c0d4d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299d5ad2714344" /><Relationship Type="http://schemas.openxmlformats.org/officeDocument/2006/relationships/notesMaster" Target="/ppt/notesMasters/notesMaster1.xml" Id="Rd3b6b6aaa7304f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61e4b13e964582" /><Relationship Type="http://schemas.openxmlformats.org/officeDocument/2006/relationships/notesMaster" Target="/ppt/notesMasters/notesMaster1.xml" Id="R950ec6749ae949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a8cd25335647ac" /><Relationship Type="http://schemas.openxmlformats.org/officeDocument/2006/relationships/notesMaster" Target="/ppt/notesMasters/notesMaster1.xml" Id="R192900afec9d48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defc4dee414b66" /><Relationship Type="http://schemas.openxmlformats.org/officeDocument/2006/relationships/notesMaster" Target="/ppt/notesMasters/notesMaster1.xml" Id="R1ac1c67f7d3b40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e0cf654ec64830" /><Relationship Type="http://schemas.openxmlformats.org/officeDocument/2006/relationships/notesMaster" Target="/ppt/notesMasters/notesMaster1.xml" Id="R3726657fc8b046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68e252feee46fa" /><Relationship Type="http://schemas.openxmlformats.org/officeDocument/2006/relationships/notesMaster" Target="/ppt/notesMasters/notesMaster1.xml" Id="R1f0449598c174a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43e9a4e7eb469f" /><Relationship Type="http://schemas.openxmlformats.org/officeDocument/2006/relationships/notesMaster" Target="/ppt/notesMasters/notesMaster1.xml" Id="R8e1d7438e35949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33ca64dfb84f1c" /><Relationship Type="http://schemas.openxmlformats.org/officeDocument/2006/relationships/notesMaster" Target="/ppt/notesMasters/notesMaster1.xml" Id="R37f270c2ba9043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bb3e809bea4769" /><Relationship Type="http://schemas.openxmlformats.org/officeDocument/2006/relationships/notesMaster" Target="/ppt/notesMasters/notesMaster1.xml" Id="R00cce8ec90084f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fae4f3707741d4" /><Relationship Type="http://schemas.openxmlformats.org/officeDocument/2006/relationships/notesMaster" Target="/ppt/notesMasters/notesMaster1.xml" Id="R8a1803b60d3840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82a04bfc45465b" /><Relationship Type="http://schemas.openxmlformats.org/officeDocument/2006/relationships/notesMaster" Target="/ppt/notesMasters/notesMaster1.xml" Id="R83fb3ec7ecb747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f57b8cbd8d45d6" /><Relationship Type="http://schemas.openxmlformats.org/officeDocument/2006/relationships/notesMaster" Target="/ppt/notesMasters/notesMaster1.xml" Id="Rc23b0c7d4de84d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fec644091348c1" /><Relationship Type="http://schemas.openxmlformats.org/officeDocument/2006/relationships/notesMaster" Target="/ppt/notesMasters/notesMaster1.xml" Id="Re87f878d2d3542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d6378c8bf24a0e" /><Relationship Type="http://schemas.openxmlformats.org/officeDocument/2006/relationships/notesMaster" Target="/ppt/notesMasters/notesMaster1.xml" Id="R37aeda8d291042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32d1a619404a64" /><Relationship Type="http://schemas.openxmlformats.org/officeDocument/2006/relationships/notesMaster" Target="/ppt/notesMasters/notesMaster1.xml" Id="Rc9e717c1546541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4f63fbe4d64d55" /><Relationship Type="http://schemas.openxmlformats.org/officeDocument/2006/relationships/notesMaster" Target="/ppt/notesMasters/notesMaster1.xml" Id="R3510357864ab49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4063573db4e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b37ba618d4442a" /><Relationship Type="http://schemas.openxmlformats.org/officeDocument/2006/relationships/slideLayout" Target="/ppt/slideLayouts/slideLayout1.xml" Id="R60900c43018744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900c430187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530256c2a4f10" /><Relationship Type="http://schemas.openxmlformats.org/officeDocument/2006/relationships/notesSlide" Target="/ppt/notesSlides/notesSlide1.xml" Id="R235af0001d5742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b1dc23aec4fcf" /><Relationship Type="http://schemas.openxmlformats.org/officeDocument/2006/relationships/notesSlide" Target="/ppt/notesSlides/notesSlide2.xml" Id="R70be0f3dbae142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6c36705f244ba" /><Relationship Type="http://schemas.openxmlformats.org/officeDocument/2006/relationships/notesSlide" Target="/ppt/notesSlides/notesSlide3.xml" Id="R8094856303b541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b44a4cc92452b" /><Relationship Type="http://schemas.openxmlformats.org/officeDocument/2006/relationships/notesSlide" Target="/ppt/notesSlides/notesSlide4.xml" Id="R890a9353481b46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104c37fb045ad" /><Relationship Type="http://schemas.openxmlformats.org/officeDocument/2006/relationships/notesSlide" Target="/ppt/notesSlides/notesSlide5.xml" Id="R5a43996f05e74f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471aff8ce40d6" /><Relationship Type="http://schemas.openxmlformats.org/officeDocument/2006/relationships/notesSlide" Target="/ppt/notesSlides/notesSlide6.xml" Id="R4cf236bc3d7a47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2a57c0aec4735" /><Relationship Type="http://schemas.openxmlformats.org/officeDocument/2006/relationships/notesSlide" Target="/ppt/notesSlides/notesSlide7.xml" Id="R41770671c76948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c1097cff64317" /><Relationship Type="http://schemas.openxmlformats.org/officeDocument/2006/relationships/notesSlide" Target="/ppt/notesSlides/notesSlide8.xml" Id="R2ce8afc009d44c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5a5b0301246c2" /><Relationship Type="http://schemas.openxmlformats.org/officeDocument/2006/relationships/notesSlide" Target="/ppt/notesSlides/notesSlide9.xml" Id="R535f05734a0849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556cc61cc486d" /><Relationship Type="http://schemas.openxmlformats.org/officeDocument/2006/relationships/notesSlide" Target="/ppt/notesSlides/notesSlide10.xml" Id="R0b652a77ae2142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23f7b26f7423a" /><Relationship Type="http://schemas.openxmlformats.org/officeDocument/2006/relationships/notesSlide" Target="/ppt/notesSlides/notesSlide11.xml" Id="Rcef162888c5f4c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7b10e617941aa" /><Relationship Type="http://schemas.openxmlformats.org/officeDocument/2006/relationships/notesSlide" Target="/ppt/notesSlides/notesSlide12.xml" Id="Red05e6ef4b0646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00afca66248fb" /><Relationship Type="http://schemas.openxmlformats.org/officeDocument/2006/relationships/notesSlide" Target="/ppt/notesSlides/notesSlide13.xml" Id="R2443f79339934c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d7eb408524ce4" /><Relationship Type="http://schemas.openxmlformats.org/officeDocument/2006/relationships/notesSlide" Target="/ppt/notesSlides/notesSlide14.xml" Id="Rfdd25b420dda45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41b8428d6499f" /><Relationship Type="http://schemas.openxmlformats.org/officeDocument/2006/relationships/notesSlide" Target="/ppt/notesSlides/notesSlide15.xml" Id="Rcd43809adf6e45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4352167254812" /><Relationship Type="http://schemas.openxmlformats.org/officeDocument/2006/relationships/notesSlide" Target="/ppt/notesSlides/notesSlide16.xml" Id="R1ffc9710208c4c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559F6A-6098-485C-9248-B32970FB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34C42-1AB4-42F8-8058-C2EAEB6C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E783B-FEDD-406E-A1F0-971AC5D3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30 分鐘專題報告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8389C-B101-443B-AF8C-931C4F9B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YOLOv13 手術器械辨識與備物輔助系統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2B3BD-8211-4074-97A1-9D7A8A9A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A3E74-7701-4E91-B836-B5998941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以 A-V shunt、Port-A、Cataract 三個術式展示</a:t>
            </a:r>
          </a:p>
          <a:p xmlns:a="http://schemas.openxmlformats.org/drawingml/2006/main">
            <a:pPr algn="l">
              <a:defRPr sz="202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影像辨識、標準器械清單與 GitHub 開源流程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A45BC-FF8D-49CC-BFD7-348ED05E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51672-28DB-4B16-9BC5-652E0E52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展示術式：動靜脈血管吻合術（A-V shunt）｜人工血管置放術（Port-A）｜白內障手術（Cataract）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DDFD1-3A72-49C0-88BD-E9C2FBAB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28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736DF-0EBA-4D97-B92A-4721FC3B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52625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YOLOv13</a:t>
            </a:r>
          </a:p>
          <a:p xmlns:a="http://schemas.openxmlformats.org/drawingml/2006/main">
            <a:pPr algn="ctr">
              <a:defRPr sz="20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+</a:t>
            </a:r>
          </a:p>
          <a:p xmlns:a="http://schemas.openxmlformats.org/drawingml/2006/main">
            <a:pPr algn="ctr">
              <a:defRPr sz="20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Checklist</a:t>
            </a:r>
          </a:p>
        </p:txBody>
      </p:sp>
    </p:spTree>
    <p:extLst>
      <p:ext uri="{BB962C8B-B14F-4D97-AF65-F5344CB8AC3E}">
        <p14:creationId xmlns:p14="http://schemas.microsoft.com/office/powerpoint/2010/main" val="1410773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679C14-7024-4FA4-B4B5-AA6DB283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8BACC-2439-415D-B32B-E1871CEA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EBB0C-BDA5-41B3-A951-3A2321C7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A0DEF-0AD6-487E-9984-9D015CD7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臨床問題：備物正確性仰賴大量人工核對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5BFBA-104C-4115-B368-B3F29F71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6D0CE-0F98-48CF-97A5-567D75B3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7178E-8F25-413B-8BFD-16FB6976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28750"/>
            <a:ext cx="628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不同術式對器械盤、單包器械與數量要求不同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78594-B2FF-4137-9990-89D9B058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AEE74-7270-41E3-9BBC-732757E8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628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器械外觀相似，名稱中英混用，初學者辨識負擔高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E1B08-3266-4183-AB75-D20B7364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BF9E4-03F4-4EE8-8EDF-FE68382D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628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完整器械桌照片中常有重疊、反光、遮蔽與小物件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EB195-008F-47CE-AE4F-404C33AD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A5B58-288D-4F12-8CC8-B5DC86E0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628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若只追求全自動框選，短期內不容易達到臨床可用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7957F-00AD-4F5A-8577-42413F16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2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AF565-37D0-4CD6-96F4-96390914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BA10B-1653-4779-AAEC-CE9BB8ED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9545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本專題定位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2FCA3-D20F-4CE3-A25B-FF442D78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2743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不取代護理師點器械，而是用影像辨識與標準清單提供第二層提醒。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F3872-8A3C-43AF-A804-B46F2DCD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94AC5-92E9-4586-9454-28EE0AE9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2DAE9-F8F5-4C3B-B995-1255E56A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報告策略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02086-BD00-4B4F-BC3C-569A5A1C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43450"/>
            <a:ext cx="2743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以三個術式示範半自動流程，聚焦可落地的 prototype。</a:t>
            </a:r>
          </a:p>
        </p:txBody>
      </p:sp>
    </p:spTree>
    <p:extLst>
      <p:ext uri="{BB962C8B-B14F-4D97-AF65-F5344CB8AC3E}">
        <p14:creationId xmlns:p14="http://schemas.microsoft.com/office/powerpoint/2010/main" val="1984360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4284D8-822F-453B-BB6A-8D874408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73C53-A0F0-4017-A831-F1169EB8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0D2D1-28CB-4A2D-9806-F9CF06F8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專題範圍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0E2A5-54FE-443C-A507-658A23E0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研究目標與展示範圍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2A0E8-6454-42A6-A8F1-4DBFB51A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E042D-22C5-477C-878E-4DCFE88A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981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建立一個結合 YOLOv13、器械標註工具與術式標準清單的備物輔助流程。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55BFC-2DBD-4FDC-9E65-47416EBB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52697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7FBE1-A881-4E9F-9954-4B55561A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81225"/>
            <a:ext cx="3374571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展示術式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CB798-AB97-416B-AC10-191BFFD7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721" y="2095500"/>
            <a:ext cx="166551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ED9B4-DA46-4AD9-A3C6-FA66E010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921" y="2181225"/>
            <a:ext cx="1513114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科別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3FEA5-AE8F-4BE0-B628-710EF894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236" y="209550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0C7BA-4CFD-48F4-BF92-D0395F80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436" y="2181225"/>
            <a:ext cx="396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對應器械盤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B798B-BC63-4F24-A3C6-2BA14A0A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036" y="2095500"/>
            <a:ext cx="97971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4E251-6684-4692-BB1E-20083AA7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236" y="2181225"/>
            <a:ext cx="827314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項目數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4515D-97DE-4D34-A8D0-D60F55D3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352697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D2E9B-5595-4C9A-BFAF-94E060A3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3374571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動靜脈血管吻合術（A-V shunt）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6ED36-E946-40F4-934D-21B07266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721" y="2609850"/>
            <a:ext cx="166551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CF4E0-A5EF-4EB2-8D33-CD191B5D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921" y="2686050"/>
            <a:ext cx="1513114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心臟血管外科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AEFE2-8785-422C-83F3-3861E178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236" y="26098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EA970-922C-47AE-B490-A85BD989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436" y="2686050"/>
            <a:ext cx="3962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A-V Shunt 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E5A4BF-D316-4AAE-99E1-6A45330F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036" y="2609850"/>
            <a:ext cx="97971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D4FC9-4AF6-4F40-9FF4-6442147F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236" y="2686050"/>
            <a:ext cx="827314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BB2BFE-DA56-46B4-968A-90E373FB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352697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ADFD5-8FF5-47F5-8BA1-28BFA551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3374571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人工血管置放術（Port-A）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3721A3-F607-4CBE-890D-01E52BBE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721" y="3124200"/>
            <a:ext cx="166551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18A4C9-0380-41EE-A170-11061E9F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921" y="3200400"/>
            <a:ext cx="1513114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一般外科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0CC542-CFEC-466F-BA89-48820ABA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236" y="312420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E4FD6C-F7F0-4916-BBBB-D71F221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436" y="3200400"/>
            <a:ext cx="3962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Suture Set + Towel clip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AD07FD-4E05-461E-9380-3767E0F4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036" y="3124200"/>
            <a:ext cx="97971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9D3296-0C6B-4A9D-977D-F40C5B3C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236" y="3200400"/>
            <a:ext cx="827314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FC8FB8-E165-4DFE-A685-96539450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526971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C4B64C-28D3-491C-90D5-3CCD1717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3374571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白內障手術（Cataract）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580159-C781-4FE4-8E2E-A70F3F65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721" y="3638550"/>
            <a:ext cx="166551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5BCA59-8652-43CA-84AB-6FE1D908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921" y="3714750"/>
            <a:ext cx="1513114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眼科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2BA12D-779D-4B13-9D17-1CCF280C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236" y="3638550"/>
            <a:ext cx="4114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B4A657-06B8-4A3D-94E2-E236C166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436" y="3714750"/>
            <a:ext cx="3962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Phaco Cata Set + Phaco Handpiece Set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584F0C-1074-4B93-86F2-E0E746AA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036" y="3638550"/>
            <a:ext cx="97971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6D8104-8C6D-4ACC-B1F5-8D052D50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236" y="3714750"/>
            <a:ext cx="827314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EC6492-A67B-45EC-9D0A-CE020385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09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選擇理由：三者涵蓋複雜血管器械、一般外科中型器械組、眼科精細器械，能展示系統面對不同場景的可行性。</a:t>
            </a:r>
          </a:p>
        </p:txBody>
      </p:sp>
    </p:spTree>
    <p:extLst>
      <p:ext uri="{BB962C8B-B14F-4D97-AF65-F5344CB8AC3E}">
        <p14:creationId xmlns:p14="http://schemas.microsoft.com/office/powerpoint/2010/main" val="7680072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118EFD-6F1E-4D51-A16A-8D651DC9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D427E-EE68-4AF2-930E-C6D77D78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5BAA4-39F5-438A-9807-2434951F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方法設計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F2012-3CCC-4574-A0A6-E5A20060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整體系統流程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8F435-9A99-4EEB-B137-FD83340B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FFA28-14D1-4748-8DD3-E1D885EF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04569-8133-41A1-A547-7010D529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57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7C49D-992F-4D36-8470-54FAC275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972AA-8C60-47A6-A964-2FBAC72C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57325"/>
            <a:ext cx="3981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資料收集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1CF94-7D2E-4D0F-A740-B85F4B92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62125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單支器械圖、完整器械桌圖、醫院器械明細 Excel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D28BE-DA03-42E5-B63E-08D7A7AD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85875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27488-0E67-45AF-B2D1-4B30D078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57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C87A7-2441-4E0C-AB1F-C1E12A0E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E7A9E-3826-4D9D-9B62-FDF0A869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57325"/>
            <a:ext cx="3981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影像前處理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F41CA-C110-4FBF-91BC-6A534674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62125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器械照片標準化為 300 x 300，完整桌面依 YOLO 輸入需求保留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97BC8-F684-4A66-9E91-D33A1A81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A7914-1C99-4AD4-ABCF-E736D12B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4251E0-083F-4176-B8B3-D53EA92F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5138C-75DB-4DE6-B315-A2F6D71D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86075"/>
            <a:ext cx="3981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YOLO 標註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C6F6D-A15F-4933-8655-2B473871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90875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用 YOLO Adjust 導入圖片、框選、修正 text、輸出 label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0F50E-CE6F-4C67-AC50-8CBB23A2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14625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BDEF52-E40C-4F87-A6F3-1D47BCA9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860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AF00B-7EDB-4B16-AADF-808E013F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902E7-DA38-43F4-8B59-5B44469C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86075"/>
            <a:ext cx="3981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YOLOv13 訓練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CFF65-A950-4779-A9FE-78066DA6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90875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使用 Ultralytics / YOLOv13 進行器械類別辨識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FC66D-1FF5-4761-A3D0-847A5F82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84432A-369C-47AE-8885-82F32308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C13331-0087-424A-820B-5DA322BE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29BA66-6A71-45B9-969D-02892E0B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14825"/>
            <a:ext cx="3981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清單比對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BAF625-7B59-4C04-AF9B-FCC78328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19625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將辨識結果對照術式標準器械清單，產生待確認項目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9A4425-CF46-45A0-B1C6-B2631C26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43375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D876D6-E755-4317-B4DE-733DD78F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148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8291EF-15DF-401E-AFD5-D2D2CA58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815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FBCE9E-D28D-43A9-A78F-12DA09A5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14825"/>
            <a:ext cx="3981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報告與開源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433C06-81E4-4F4D-821A-3EDE45CD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9625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PPT、逐字稿、README、GitHub public repository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64B4C5-E84A-4980-B11D-EC57CACB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10287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核心概念：影像辨識處理「看得見的器械」，清單比對處理「術式應該有的器械」。</a:t>
            </a:r>
          </a:p>
        </p:txBody>
      </p:sp>
    </p:spTree>
    <p:extLst>
      <p:ext uri="{BB962C8B-B14F-4D97-AF65-F5344CB8AC3E}">
        <p14:creationId xmlns:p14="http://schemas.microsoft.com/office/powerpoint/2010/main" val="5032753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CE577E-3FC4-49E9-B53C-1429E71D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B7D94-334E-4511-95C9-6BACB90E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F6598-6D04-4AD5-BD9B-8C8149F5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資料處理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2FF28-2F94-4929-83B7-8E190334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資料來源與資料集建置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F4792-6806-48F3-80FC-C0D7C2CD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A52E3-574F-4720-A301-1E08F4B8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EDEF9-6991-463B-B677-EC34EAC3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B65E2-C527-4D65-968E-6AD48445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525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單支器械圖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50300-1BDA-4614-89C6-9C9B229C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33575"/>
            <a:ext cx="274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建立 instrument_yolo_dataset，包含器械影像、YOLO labels、class_names、display_names 與 previews。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AEDE1-3677-4009-B047-3B5FDEB8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81125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06786-D17C-402E-8095-752AEF1E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811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ECE50-E4E6-46ED-A1C5-7D9C1B32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525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完整器械桌圖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9E578-CC96-4D29-B1BC-DF0749D0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33575"/>
            <a:ext cx="274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建立 or_table_yolo_dataset，依 70/15/15 分為 train、val、test，保存術式與圖片對照。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0217B-81EF-498B-A740-85B80D9E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5604E-0B83-4E33-BDB3-8CF6E27D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DCFAB-2091-48F4-BEC8-4336E1B1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525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醫院器械明細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8D376-5E7F-42D9-A9A8-01466130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33575"/>
            <a:ext cx="274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匯入更正版 Excel，整理三術式器械盤與必要器械項目，形成系統清單。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A3412-EF8D-43B4-B39F-84FF8291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E8FCF-C0DA-42B9-B127-337DDF66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147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單支器械照片：先做 300 x 300 前處理，降低輸入尺寸差異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3E1C5-C734-4502-A9F9-55E50887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E1E0A-A4D0-4245-B625-84ACDBC9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1719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完整桌面照片：保留原始桌面資訊，用於展示與後續桌面級辨識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F8B6C9-8DC9-4667-8162-EFC82C71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193E10-78A9-4A18-8E2F-947FDD3D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6291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器械名稱：保留中英文顯示，YOLO 類別以英文 class name 訓練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B0262D-FF17-4083-8E35-3488712F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8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60380E-C7EE-4755-8F09-E7FC9AB1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863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資料輸出：data.yaml、CSV、Excel 與 preview 圖供查核</a:t>
            </a:r>
          </a:p>
        </p:txBody>
      </p:sp>
    </p:spTree>
    <p:extLst>
      <p:ext uri="{BB962C8B-B14F-4D97-AF65-F5344CB8AC3E}">
        <p14:creationId xmlns:p14="http://schemas.microsoft.com/office/powerpoint/2010/main" val="9514337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BD725-8063-42D3-8439-07B39EC0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20FEF-E901-48C3-A71A-842C5B70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F26D9-0F8C-47F3-884C-0F708F06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工具開發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6AA73-887A-4645-B6B1-6F02280A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YOLO Adjust：為本專題製作的半自動標註工具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23574-30AE-40F1-84C2-C2B89A04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528EE-25C3-4E18-BDC5-478C25B8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BDC75-48BE-4B89-820F-B2571AF7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加入「導入圖片」按鈕，取代原先截取網頁的流程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8A0EF-7B49-432F-8267-8FC33D91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35142-1E1E-436D-82E2-D5B89A8D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支援滑鼠框選器械，放開後新增標註框與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352A8-3C0F-4F66-B28B-AB721F21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BEC92-7044-4D45-9F81-21678CE7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支援 text 修改，方便輸入中英文器械名稱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5E872-B30B-42A4-A8FE-64106D4C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AF0BD-B705-4766-811A-E2165F7C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圖片自動縮放到視窗內，降低滾輪操作與框選困難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01027-D9A4-44FE-A199-1C72A828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A0987-3450-4CDF-A558-0235B6CD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輸出 YOLO labels，並可產生 preview 檢查框選品質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499BE-4CE0-4762-8769-97B6AEC9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143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A7668-AB30-4241-B40F-C1712725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666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5B6C0-2F71-4E05-A8EB-7E5B59A1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3832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為什麼不用只靠通用工具？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7BB78-4BC8-499F-BEF7-E9A6ABC7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19325"/>
            <a:ext cx="2743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本專題需要同時處理中文器械名稱、醫院清單、圖片導入、YOLO label 輸出與 preview，因此建立符合流程的輕量工具。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FF26DF-7557-40BE-87AB-02FF1184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程式入口：yolo_adjust_app.py｜啟動檔：run_yolo_adjust.bat</a:t>
            </a:r>
          </a:p>
        </p:txBody>
      </p:sp>
    </p:spTree>
    <p:extLst>
      <p:ext uri="{BB962C8B-B14F-4D97-AF65-F5344CB8AC3E}">
        <p14:creationId xmlns:p14="http://schemas.microsoft.com/office/powerpoint/2010/main" val="7034649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0499E1-24AD-42E5-9E09-70A332E1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9FC25-CF69-4306-B78D-C2A96E07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C202F-A7C9-4FE0-B354-91A436E4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AI 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725CA-C94A-45DC-A011-DE10F367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YOLOv13 在本專題中的角色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831D3-5793-4E3E-9DCE-8E17CAA4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46450-F8F0-41AE-8C0B-7DC63A18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546287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578A4-C86A-4174-80E7-41B8C934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2393887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99AF4-E11A-47C2-B2BC-0518A6FF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037" y="1381125"/>
            <a:ext cx="774071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018AF-2ADB-45BE-B0D9-E5982A51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237" y="1466850"/>
            <a:ext cx="758831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設定或用途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2B6EF-59C0-46DF-909C-9262F867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2546287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F5F77-5E3D-4C24-A282-8EB7D41A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90725"/>
            <a:ext cx="2393887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模型工具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B7DED-1431-423A-B499-5F992F95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037" y="1914525"/>
            <a:ext cx="774071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717CB-FC5B-4414-A9F1-0668549A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237" y="1990725"/>
            <a:ext cx="75883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Ultralytics / YOLOv13，用於物件偵測與器械類別辨識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9F369-58DE-4F1C-ADA8-D2068886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2546287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0E9B5-3AD8-48CA-B39E-5F531F13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393887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單支器械輸入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C45330-7D18-48F0-BEC2-3302E74D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037" y="2447925"/>
            <a:ext cx="774071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E9608-5AAC-45D9-B496-5713FF99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237" y="2524125"/>
            <a:ext cx="75883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300 x 300 前處理影像，適合練習基本器械外觀特徵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6FE98-C037-4C45-A4D7-AF919B95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2546287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85A4B-ACFA-46A8-BC95-72601063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2393887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完整桌面輸入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5F47C-FFD0-4C35-B042-ACAD292F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037" y="2981325"/>
            <a:ext cx="774071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141D9-DEE2-4CE1-9E57-93FADEA3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237" y="3057525"/>
            <a:ext cx="75883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建議 640 x 640 或保留較高解析，作為後續桌面級偵測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C3AAD-CC5B-4896-8191-678AB1F8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2546287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192841-4FCA-4F9D-A479-DA18F19C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2393887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標註格式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6F682-0076-44E9-BC7A-99D8B671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037" y="3514725"/>
            <a:ext cx="774071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5BA8A6-BAC4-4272-A43C-8F91A83F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237" y="3590925"/>
            <a:ext cx="75883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YOLO txt：class_id x_center y_center width height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E344BD-5AEF-4967-AD1E-30542B41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2546287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2EA622-1C74-45B7-8C5F-0AAC5B38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2393887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輸出用途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2C3F89-CAD4-43A8-986F-88616EB6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037" y="4048125"/>
            <a:ext cx="774071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C3D9B2-6C65-414F-94C2-EE9D9275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237" y="4124325"/>
            <a:ext cx="758831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與術式清單比對，標示已辨識、待確認、可能缺少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A02DAF-48A2-4FD7-9D56-26E13B4C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B1CEB1-B435-4770-99F9-D90C52C2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952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yolo detect train data=instrument_yolo_dataset/data.yaml model=yolov13n.pt imgsz=300 epochs=100</a:t>
            </a:r>
          </a:p>
        </p:txBody>
      </p:sp>
    </p:spTree>
    <p:extLst>
      <p:ext uri="{BB962C8B-B14F-4D97-AF65-F5344CB8AC3E}">
        <p14:creationId xmlns:p14="http://schemas.microsoft.com/office/powerpoint/2010/main" val="5968321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98AD85-AEB7-4208-BB3A-669DF1DA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08335-AE87-466C-9DFA-8843F2B7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DD1A1-C68C-454B-8889-7129BEC7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方法調整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987B0-9BC9-426E-8EDE-6BF7AE22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為什麼改採「YOLO + 清單比對」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257A4-F5B8-4241-9994-28DEFDC9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E85F8-D93F-40C9-A425-6A4AA68A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9B148-444B-4F1A-9D1A-0C005914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062D3-11F5-4698-A931-0E39A803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436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原始想法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3FE99-5E79-4C50-9A7E-609A216C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4362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完整器械桌照片中逐支框選，訓練模型自動辨識所有器械。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07F5A-5F6B-4739-86E1-29AB6E92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2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F4937-96D3-4378-A6E0-18FA5D76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5EE7B-DA25-4761-ACDB-6A31CFE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436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修正後方法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40C7B-EFCD-495E-914C-A7019309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4362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只要求 YOLO 辨識明顯器械，完整性由術式標準清單負責比對。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FD95D-148D-46E1-B7D8-16E7B041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D8145-4E71-43D6-94D1-3479E972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原因一：完整器械桌器械靠近、重疊，精準框選成本高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8663C-5891-4F0E-88E9-9AD179AA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95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E1968-C9ED-44DD-9309-B5729CF1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00525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原因二：小型眼科器械在縮圖中很難穩定辨識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A3D62-9252-4F40-A2F7-68F4A21A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33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71B30-0CD0-4D68-8AAB-48AA4765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38675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原因三：臨床備物本質是「清單完整性」問題，不只是影像偵測問題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922B66-D81F-4AAD-A34B-E057A187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7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25E5F0-F0F3-424B-B809-A52117C2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76825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因此採用半自動策略，更符合五天內完成 prototype 與報告的可行性</a:t>
            </a:r>
          </a:p>
        </p:txBody>
      </p:sp>
    </p:spTree>
    <p:extLst>
      <p:ext uri="{BB962C8B-B14F-4D97-AF65-F5344CB8AC3E}">
        <p14:creationId xmlns:p14="http://schemas.microsoft.com/office/powerpoint/2010/main" val="5264448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C482AB-5944-4383-B42D-1644787C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6F06D-6DFD-445C-A187-83D50C61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5146A-2F68-4B37-B8F4-A995CA26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資料成果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BF81F-CA42-43EB-8B6A-01DFB325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三術式器械清單整理結果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E6689-B536-46C0-9543-CCB4C728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50ADC-6BCD-4C85-BB58-B1F5F3E1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72561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3C706-2B92-41C8-9BF5-A52C449F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257321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術式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5D098-AE36-4F08-96CD-D777584E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365" y="1381125"/>
            <a:ext cx="2901462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5D301-03CA-4171-9F36-5244789D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565" y="1466850"/>
            <a:ext cx="274906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器械盤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18EFC-5B35-492D-B520-4F0739D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3827" y="1381125"/>
            <a:ext cx="96715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485CB-9D42-42B9-B050-FDDF621F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027" y="1466850"/>
            <a:ext cx="814754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器械項目數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2B7F2-9DF1-4448-A799-177A58E7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981" y="1381125"/>
            <a:ext cx="3692769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38249-ED22-446F-A292-20FDBA5B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181" y="1466850"/>
            <a:ext cx="354036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主要類別分布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831C6-83CB-4A87-957B-2F8F2007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72561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1E787-2EAA-4140-B637-0D2EC602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24075"/>
            <a:ext cx="257321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A-V shunt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45FFA-30CB-4597-9B7D-CDD641AB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365" y="2047875"/>
            <a:ext cx="2901462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B7323-3A69-4E08-9930-C610CBA5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565" y="2124075"/>
            <a:ext cx="2749062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A-V Shunt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312EB-4761-4625-8F99-11EF4A9C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3827" y="2047875"/>
            <a:ext cx="96715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137E5-C998-4771-8C0B-48498D15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027" y="2124075"/>
            <a:ext cx="814754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D4D29-A05A-4595-AA64-ADB399ED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981" y="2047875"/>
            <a:ext cx="3692769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51FD8-9A86-45BD-9F03-C95070FC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181" y="2124075"/>
            <a:ext cx="3540369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forceps 6、scissors 3、止血鉗 3、clamp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218B74-234F-4886-A22C-FF782456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272561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3C83D-CBC7-440C-9079-8A72AC26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257321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Port-A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21E289-E84D-4930-BF8A-8569BB0E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365" y="2714625"/>
            <a:ext cx="2901462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41921A-E86B-480C-87CC-650D6E99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565" y="2790825"/>
            <a:ext cx="2749062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Suture Set + Towel clip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BF46E2-FDF1-4DC7-A10F-F4A4011E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3827" y="2714625"/>
            <a:ext cx="96715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2AFA0D-3AEC-4C13-9ED3-18FF4416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027" y="2790825"/>
            <a:ext cx="814754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8325BA-04CC-4134-8839-615518BC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981" y="2714625"/>
            <a:ext cx="3692769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BEDC7D-207D-4B32-AF7A-64FB4EE7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181" y="2790825"/>
            <a:ext cx="3540369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forceps 4、止血鉗 3、clamp 2、刀柄 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01767E-FFDD-4211-9710-C1CF12D9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272561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A2FC85-1AA3-4226-94AE-F77CBC34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257321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Cataract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4C32FE-6D59-4078-A45D-5F10ED41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365" y="3381375"/>
            <a:ext cx="2901462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8403B3-54DB-4719-884D-D21B85F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565" y="3457575"/>
            <a:ext cx="2749062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Phaco Cata + Handpiece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EE5E42-E116-4B6B-99AD-FA92DDF2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3827" y="3381375"/>
            <a:ext cx="96715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8A4908-D94F-4BF0-A941-51324F19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027" y="3457575"/>
            <a:ext cx="814754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118103-D6EE-4ED0-9935-B1552F81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981" y="3381375"/>
            <a:ext cx="3692769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C03D3D-C5CA-4809-8AF1-5BF2D648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181" y="3457575"/>
            <a:ext cx="3540369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forceps 4、suction/tube 3、scissors 2、retractor 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43A307-16A9-4ACB-A309-EEC1254F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9906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這 58 筆項目形成系統比對基準：辨識結果如果沒有覆蓋必要項目，系統就標示為待人工確認。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3C3ED6-C3F8-4B62-B838-B8E48EAD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來源檔：procedure_instrument_checklist_更正版.xlsx、selected_procedure_items.csv</a:t>
            </a:r>
          </a:p>
        </p:txBody>
      </p:sp>
    </p:spTree>
    <p:extLst>
      <p:ext uri="{BB962C8B-B14F-4D97-AF65-F5344CB8AC3E}">
        <p14:creationId xmlns:p14="http://schemas.microsoft.com/office/powerpoint/2010/main" val="12785233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C730DA-EE84-4A73-B8F5-8E46DD49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864FE-BA8C-465D-ACFD-6BC2C3A6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4E75E-8E47-4302-A101-867CB5A7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個案展示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E71D6-11A4-45D5-BF8A-844518AB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展示一：動靜脈血管吻合術（A-V shunt）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FF170-7334-42A1-A428-DBEEE811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5C58C-B71F-48FD-B4CA-B68B2794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2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D82CC-F20C-4FBC-843A-75115607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0F62D-9EAA-465C-A91E-BF4E3536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對應器械盤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43EDF-A9BA-4B7A-8281-91A3C49A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3028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A-V Shunt Set</a:t>
            </a:r>
          </a:p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共 26 項器械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A928F-703E-43CD-B7F8-2B4B00F1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33500"/>
            <a:ext cx="3048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09A83-C8A4-4D9F-9314-937EC00A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335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23E93-C6EE-44F1-9CB9-E07683B9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049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科別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C4342-C070-419F-B56C-9C791F1A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85950"/>
            <a:ext cx="2647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心臟血管外科</a:t>
            </a:r>
          </a:p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血管吻合與細緻操作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C9F00-452E-4FB2-BE2E-BDA60852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3048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07727-E299-419E-9BBF-1CC1BE55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D63D2-BB8C-4EF6-A427-3AC3C635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049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辨識重點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AB844-765B-4E08-AC3E-E5B3FCED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85950"/>
            <a:ext cx="2647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forceps、scissors、needle holder、clamp、retractor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C72BB-D44E-47C3-BFB7-95526EF4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9EFA4-EA26-4C70-B69D-774FACFC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此術式器械種類較多，適合作為清單比對能力展示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B2C58-82C5-4E72-A498-21B7C29C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3883D-B509-4C78-83C1-1A671F66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血管器械常細長且外觀相似，因此 YOLO 結果需搭配清單確認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AC1D44-B818-48DF-A298-E55CA6E7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1D0A3-B4D2-442F-BC5C-984F9C7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系統輸出重點不是只看框選數，而是看必要器械是否都有被確認</a:t>
            </a:r>
          </a:p>
        </p:txBody>
      </p:sp>
    </p:spTree>
    <p:extLst>
      <p:ext uri="{BB962C8B-B14F-4D97-AF65-F5344CB8AC3E}">
        <p14:creationId xmlns:p14="http://schemas.microsoft.com/office/powerpoint/2010/main" val="4732005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5338A7-ADBC-4A0A-AE69-AAAF2A98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F9B2C-7B8D-47C5-BB21-0831387A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0D4BA-1FB0-4A52-A922-5D4F6EE0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個案展示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643B3-6163-4629-B0AC-2AC839B9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展示二：人工血管置放術（Port-A）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06903-DFE5-4C5E-958C-71D847B6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5F601-55B8-4D60-98B9-B318ED3B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5EBBF-E67A-4C77-9E6C-BC607831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A0DFB-1C8D-4462-8A85-7F507760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對應器械盤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90C0A-833A-427B-B36E-0770C7C8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3028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Suture Set + Towel clip * 5</a:t>
            </a:r>
          </a:p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共 14 項器械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E36D3-8D5C-461B-8FF4-051B5AEF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33500"/>
            <a:ext cx="3048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AE067-2130-40AC-88EE-5A43C005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335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77A4D-946A-4D50-BEDF-643AFEBF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049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科別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3DD42-FF46-498B-9B06-74D1E3E2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85950"/>
            <a:ext cx="2647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一般外科</a:t>
            </a:r>
          </a:p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中等複雜度器械組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BAC72-8D57-4864-8BF9-A2572E25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3048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76434-0963-4E3B-924E-497D907D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DDF10-BA76-4260-894D-A01F9FB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049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辨識重點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F49EC-97E9-4746-BDC1-D6C0CDEE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85950"/>
            <a:ext cx="2647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Kelly、Mosquito、Needle holder、Scissors、刀柄、Suction tip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B69A68-D40A-4916-A4FD-84E9AD6B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DB1D9-AD9B-4148-B7A3-8FD89BFE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Port-A 展示「基本縫合器械 + 額外器械」的清單組合能力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6EA39-DA51-4837-85DF-58781B69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CCEC9-7F5C-4B92-A1F7-97F65371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towel clip * 5 是人工追加項目，系統需保留來源註記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48CA2-7A26-490C-A904-EFDE40DF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4FF28-BAE5-415B-846A-624C9855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適合用來說明清單比對能處理器械盤以外的單包或追加項目</a:t>
            </a:r>
          </a:p>
        </p:txBody>
      </p:sp>
    </p:spTree>
    <p:extLst>
      <p:ext uri="{BB962C8B-B14F-4D97-AF65-F5344CB8AC3E}">
        <p14:creationId xmlns:p14="http://schemas.microsoft.com/office/powerpoint/2010/main" val="22028076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44C5F7-B33D-49BA-9525-C2273186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30D70-FD6B-4748-A462-73226ABD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C0F33-F0C7-4B6C-9BF5-9ABCD630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個案展示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88D11-3387-4FC2-8DD0-C40470AE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展示三：白內障手術（Cataract）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3D578-CC6D-4A71-80D7-F05AE4B5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CFE28-3C44-48A6-A971-5ACBC135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2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44E2E-15D5-4C78-9D9C-26E3BD49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05656-2D5D-413E-B957-9F009F39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對應器械盤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FA8C8-C4F9-4FCE-848B-70450951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3028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Phaco Cata Set + Phaco Handpiece Set</a:t>
            </a:r>
          </a:p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共 18 項器械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9DDA1-4AB2-4E23-AA77-7FD50F5C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33500"/>
            <a:ext cx="3048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3B472-C75F-4D6D-AF41-D744E32B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335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43CBD-E83B-4E7D-9147-2F07169A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049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科別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1B2ED-CBDD-4FAC-8AD1-735F803B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85950"/>
            <a:ext cx="2647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眼科</a:t>
            </a:r>
          </a:p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器械精細、尺寸小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A48F9-1EB3-4A07-AE67-9E49A8AE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3048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D2ADD-0362-414E-8847-EE737A55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F15C4-344E-4B5F-ADD6-AFB7287D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049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辨識重點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7578E-EC85-4E59-9FAA-8E31A243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85950"/>
            <a:ext cx="2647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Speculum、Micro forceps、Tenotomy scissors、Needle holder、Handpiece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2C5BD-6CF8-404B-9842-D1E31ECE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C671B-5D25-4A86-A1AD-326A151B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眼科器械尺寸小，完整桌面照片中的影像辨識難度最高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5955C-79CB-4D11-BF4D-22D92BED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4F314-740B-4CE5-9FB9-5CFC34F0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此個案可用來說明為何清單比對比單純框選更適合臨床初期導入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D303D-D86B-47AD-B606-C6D7D803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0D9112-4182-4976-B4DB-07EEB084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895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對於 handpiece、tip、保護套等項目，系統可先標為待人工確認</a:t>
            </a:r>
          </a:p>
        </p:txBody>
      </p:sp>
    </p:spTree>
    <p:extLst>
      <p:ext uri="{BB962C8B-B14F-4D97-AF65-F5344CB8AC3E}">
        <p14:creationId xmlns:p14="http://schemas.microsoft.com/office/powerpoint/2010/main" val="1158743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1C3658-768E-4330-A2DC-E9EFFA68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EBCED-551C-4507-95DD-2B8EE489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45DBA-A65A-4E4F-8327-DCFF10D5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執行紀錄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2A7BC-7E3C-4B03-85C5-A2DD233C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執行過程與產出檔案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C7810-4569-4071-9C8E-566127CD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40005-975B-4870-A349-F9F4A5FD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E3851-524A-4085-A5E3-8C86632F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階段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AD043-9E9A-4AC7-AA3A-91FF3653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382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0AB00-9D34-49EC-B5C6-0CC8463C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323975"/>
            <a:ext cx="4800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完成內容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39F5B-4631-47E2-9D7E-3BDDCC2A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2382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2D0A5-C276-485F-BFF7-20BBB91F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2397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主要檔案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DA307-5225-413B-ADAA-23C2BED6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05024-6406-429F-BA6C-AE982F68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37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1 標註工具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AD30D-41C8-4F0A-AFE9-83E48A07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288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6582F-AD79-4FA2-8702-8D16FA7B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05000"/>
            <a:ext cx="480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導入圖片、滑鼠框選、text 修改、預覽與 label 輸出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17480-5E6E-49E4-829B-492F2BCB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2880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CBE10-9E03-4729-B82F-AD0B4734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05000"/>
            <a:ext cx="394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yolo_adjust_app.py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FEEA9-70D6-48D6-8A93-03C27021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65B2C-0C00-4A69-B467-9AE343AE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37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2 單支器械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42950-6539-45B6-AC25-677236B7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193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5BCED-4C75-433A-A741-9740D363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95550"/>
            <a:ext cx="480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建立 300 x 300 器械資料集並修正 labels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88867-22A9-4E7B-A36E-DD67DECB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193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6167F-7250-47AF-8417-9757EA74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95550"/>
            <a:ext cx="394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instrument_yolo_dataset/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4CA6C6-4D06-482A-AA40-8EC549A8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BC09E9-82F9-47F0-B796-7D9F8344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37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3 完整桌面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6A2CA5-249B-453A-90AD-214CE2A9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099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A800DE-7B1C-4A8C-AA20-8F709507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86100"/>
            <a:ext cx="480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建立 10 張術式器械桌資料集與分割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239903-428C-48DA-8927-D18F7B0A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0990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783D7A-A6E3-4230-B916-E7878D1B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86100"/>
            <a:ext cx="394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or_table_yolo_dataset/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02B9F1-6BDC-4518-882B-88057A03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A2881E-8A1C-45DC-B052-8019C26B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37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4 清單整理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B142BB-5C20-40ED-9497-DE47EE47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004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802443-C3D8-4D30-B5A2-F1295DBB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76650"/>
            <a:ext cx="480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依更正版 Excel 整理三術式 58 項器械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105A81-0779-417A-8683-B09147D4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04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950C7F-6B30-4B07-84EA-B28ED83C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76650"/>
            <a:ext cx="394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selected_procedure_items.csv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29B1B5-CF61-4FB3-881B-5F3023A6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F2D699-CAD8-4459-A11E-097BD407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37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5 報告開源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084AAB-805A-4629-ADB1-1A30E2E2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910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C18566-693F-4BAF-8C32-8C2CD149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67200"/>
            <a:ext cx="4800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PPT、逐字稿、README、GitHub 上傳指南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FA3878-0A19-46D3-8C3A-F03EDF3A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9100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AC472D-7DAA-43F5-BF53-5408E82D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3943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report_outputs/、README.md</a:t>
            </a:r>
          </a:p>
        </p:txBody>
      </p:sp>
    </p:spTree>
    <p:extLst>
      <p:ext uri="{BB962C8B-B14F-4D97-AF65-F5344CB8AC3E}">
        <p14:creationId xmlns:p14="http://schemas.microsoft.com/office/powerpoint/2010/main" val="60247099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C531E5-5BE7-4281-93DE-760E25E7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7A5A0-9EF4-4119-8937-2865AD9A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9084D-8D0F-4F1E-BAB1-8D95AFA8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討論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59C79-2487-4F13-8014-9E8E2337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系統限制與風險控制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9D0BD-2613-43DB-8DE0-4B19AFBD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C9B83-A5A2-48F4-9F9B-D9CA6016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09988-2371-44D0-A339-CE76EF11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3B405-95CF-418E-B2B7-7B885E86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525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影像限制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CCA36-654D-4A00-A8C1-8B034847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33575"/>
            <a:ext cx="2743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重疊、反光、遮蔽、拍攝角度不同，小型器械在縮圖中不易辨識。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4CEEF-A64D-4F8A-953C-58C17E34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81125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B10C2-536B-4419-9ED5-695DEF30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811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6908B-19A5-4386-B94C-DF6F5A6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525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資料限制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657E9-227B-4CDA-813D-E64BDA0A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33575"/>
            <a:ext cx="2743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目前仍屬 prototype，完整桌面照片與精準標註量不足以宣稱臨床準確率。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BF6A2-AAAC-43D5-AC12-C8EBFB15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611F0-FD7C-41CD-9E9E-F2EF762F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D7A70-C00C-4E66-8EF8-14393BE7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525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導入限制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A11B6-8DE1-4A4F-903E-324BA927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33575"/>
            <a:ext cx="2743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院內影像與器械清單涉及資料治理，公開版本須去識別化。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8330F7-140D-48AF-AB37-1FEA53B5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5DAC57-903A-404C-A315-AF032B5F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04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控制方式：將結果定義為輔助提醒，不作為最終臨床判斷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41687-3391-45C0-9E84-18CACD7B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0A0F7-D3D0-48E3-877E-15F834F9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904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控制方式：標示待確認項目，保留護理師人工核對流程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76816-7902-4826-B3E4-707EE637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7C881-46FC-4317-AB37-4956073B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904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控制方式：GitHub 公開程式碼與範例結構，院內資料另行保護</a:t>
            </a:r>
          </a:p>
        </p:txBody>
      </p:sp>
    </p:spTree>
    <p:extLst>
      <p:ext uri="{BB962C8B-B14F-4D97-AF65-F5344CB8AC3E}">
        <p14:creationId xmlns:p14="http://schemas.microsoft.com/office/powerpoint/2010/main" val="130768507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27B440-A761-4BFE-801A-65425388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672E2-5CC8-4B4D-932F-D7AA0999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8C1EB-3055-4F1A-9071-CFA89AF3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開源計畫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33A22-3209-4478-8DF0-BDDD2E84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GitHub 開源與原始碼公開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CB514-B91D-4379-8A21-6AD36CC2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6911F-E6FF-4ED0-A43F-04FCD6F4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523226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3DBAB-6F0E-4B0C-8718-3E733FA0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14475"/>
            <a:ext cx="237082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公開內容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A0FE7-4307-4610-AF4D-B5FCF691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976" y="1428750"/>
            <a:ext cx="7763774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9C2F2-9393-49D2-83D2-EFE66716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76" y="1514475"/>
            <a:ext cx="761137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說明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09389-0EFA-473F-A3A3-61BCAF8A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523226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1F8AF-B50B-4AD5-A1EF-BBDD9D44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237082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程式碼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9986D-4693-46D9-8AE3-89CE9FEE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976" y="2000250"/>
            <a:ext cx="7763774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2203B-AE79-4FA2-A869-044019C3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76" y="2076450"/>
            <a:ext cx="761137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YOLO Adjust 標註工具、資料集建立腳本、清單整理腳本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8424B-832F-45EF-88BD-045457D3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523226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22DBF-D3BB-483B-971B-02F98143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37082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設定檔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C5114-DC73-4CD9-B8F7-ABEF8112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976" y="2571750"/>
            <a:ext cx="7763774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ECD3E-2D1A-4982-B1D1-57378142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76" y="2647950"/>
            <a:ext cx="761137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data.yaml、class_names、display_names、procedure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2DE88-8B55-42F9-87B3-027E917E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523226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19335-F5E8-4584-BEB2-0350BB81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37082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文件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38CFD-AEFF-47F4-8F10-513BFF60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976" y="3143250"/>
            <a:ext cx="7763774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B1BDB-0219-447E-A061-DC9DA120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76" y="3219450"/>
            <a:ext cx="761137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README、PROJECT_SUMMARY、GitHub 上傳指南、MIT License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467D4A-7395-4753-9108-B8F95159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523226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04271-2A78-4286-A924-C9F66207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37082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資料治理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829D38-196B-4C63-B13E-9D554875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976" y="3714750"/>
            <a:ext cx="7763774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5716DB-6071-49BF-843C-A3361BC4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76" y="3790950"/>
            <a:ext cx="761137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正式公開前移除未授權院內影像，只保留去識別化或示範資料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FC1118-F344-4BE5-B42C-B6376464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2F587-0FD0-4CDF-8E27-1DB1BCA4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建議 repo：yolov13-surgical-instrument-assistant ｜授權：MIT License</a:t>
            </a:r>
          </a:p>
        </p:txBody>
      </p:sp>
    </p:spTree>
    <p:extLst>
      <p:ext uri="{BB962C8B-B14F-4D97-AF65-F5344CB8AC3E}">
        <p14:creationId xmlns:p14="http://schemas.microsoft.com/office/powerpoint/2010/main" val="166519503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3E2AD5-E910-41F5-8C1A-7017C838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43E61-F571-466E-92CE-61906081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BD66B-07DF-4C5F-B352-07E5BFE2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84"/>
                </a:solidFill>
                <a:latin typeface="Aptos"/>
                <a:ea typeface="Aptos"/>
                <a:cs typeface="Aptos"/>
              </a:rPr>
              <a:t>總結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89EF6-7CC4-4E56-BC66-CBDB2C55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43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33"/>
                </a:solidFill>
                <a:latin typeface="Aptos Display"/>
                <a:ea typeface="Aptos Display"/>
                <a:cs typeface="Aptos Display"/>
              </a:rPr>
              <a:t>結論：從全自動辨識走向可落地的備物輔助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5B622-D3AD-484D-85F2-57FCC9C9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4D4C1-6C7F-40A5-8E78-E65CE29C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E5477-226E-4BFF-BC71-B523B4AA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本專題完成 YOLOv13 器械辨識與術式器械清單比對的 prototype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D3537-6CC1-4BB7-A9CB-23C06232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AE489-4D96-4022-94F5-1F7C4BD7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三個展示術式共整理 58 項必要器械，建立可追溯的清單基準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904BA-98CD-4803-94EA-CC64EA30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110CB-3D95-40E4-B69E-1EF76853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YOLO Adjust 支援圖片導入、框選、text 修改與 YOLO label 輸出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9A7D2-C965-4F7E-9A41-6C4EA3D1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C0F80-41E2-431A-95E9-A61B2081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GitHub 開源版本將公開程式碼、資料結構、訓練設定與文件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7AEE6-B87E-4629-851D-46ECE5F7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150B4-E70C-4BFB-91B1-6B12C99A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2033"/>
                </a:solidFill>
                <a:latin typeface="Aptos"/>
                <a:ea typeface="Aptos"/>
                <a:cs typeface="Aptos"/>
              </a:rPr>
              <a:t>未來可增加影像量、統一拍攝規格、整合缺漏提醒與院內系統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2B160-9C7F-4B51-B3CC-6C0D7B6E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2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174DB-7F7E-49C3-8010-1ED5B866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BDD07-A276-44AD-95B6-29437F04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812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033"/>
                </a:solidFill>
                <a:latin typeface="Aptos"/>
                <a:ea typeface="Aptos"/>
                <a:cs typeface="Aptos"/>
              </a:rPr>
              <a:t>一句話總結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D16B8-60F8-4B26-9531-D6577041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62200"/>
            <a:ext cx="2076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6F"/>
                </a:solidFill>
                <a:latin typeface="Aptos"/>
                <a:ea typeface="Aptos"/>
                <a:cs typeface="Aptos"/>
              </a:rPr>
              <a:t>AI 不必一次取代所有人工流程；先做出可靠的第二層確認，就是臨床導入的開始。</a:t>
            </a:r>
          </a:p>
        </p:txBody>
      </p:sp>
    </p:spTree>
    <p:extLst>
      <p:ext uri="{BB962C8B-B14F-4D97-AF65-F5344CB8AC3E}">
        <p14:creationId xmlns:p14="http://schemas.microsoft.com/office/powerpoint/2010/main" val="102534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2026-06-08T16:52:49.5180000Z</dcterms:created>
  <dcterms:modified xsi:type="dcterms:W3CDTF">2026-06-08T16:52:49.5180000Z</dcterms:modified>
</coreProperties>
</file>